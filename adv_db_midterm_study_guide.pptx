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Database</a:t>
            </a:r>
          </a:p>
          <a:p>
            <a:r>
              <a:t>Midterm Study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Questions &amp; Solutions</a:t>
            </a:r>
          </a:p>
          <a:p>
            <a:r>
              <a:t>Open-Book Exam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Section 1: Managing Database Connections</a:t>
            </a:r>
          </a:p>
          <a:p>
            <a:pPr>
              <a:defRPr sz="1400"/>
            </a:pPr>
            <a:r>
              <a:t>Section 2: Users, Roles &amp; Permissions</a:t>
            </a:r>
          </a:p>
          <a:p>
            <a:pPr>
              <a:defRPr sz="1400"/>
            </a:pPr>
            <a:r>
              <a:t>Section 3: Tables, Data Types &amp; Arrays</a:t>
            </a:r>
          </a:p>
          <a:p>
            <a:pPr>
              <a:defRPr sz="1400"/>
            </a:pPr>
            <a:r>
              <a:t>Section 4: Backup &amp; Restore</a:t>
            </a:r>
          </a:p>
          <a:p>
            <a:pPr>
              <a:defRPr sz="1400"/>
            </a:pPr>
            <a:r>
              <a:t>Quick Reference: Common Commands</a:t>
            </a:r>
          </a:p>
          <a:p>
            <a:pPr>
              <a:defRPr sz="1400"/>
            </a:pPr>
            <a:r>
              <a:t>Quick Reference: Array Operations</a:t>
            </a:r>
          </a:p>
          <a:p>
            <a:pPr>
              <a:defRPr sz="1400"/>
            </a:pPr>
            <a:r>
              <a:t>Quick Reference: String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Section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Managing Database Connections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Q: How can you retrieve a list of recent connections and process IDs (PIDs)?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A: Use the pg_stat_activity system view to see all active connections, queries, and session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Courier New"/>
              </a:defRPr>
            </a:pPr>
            <a:r>
              <a:t>-- Basic query to see all connections</a:t>
            </a:r>
            <a:br/>
            <a:r>
              <a:t>SELECT pid, usename, datname, state, query_start, query</a:t>
            </a:r>
            <a:br/>
            <a:r>
              <a:t>FROM pg_stat_activity;</a:t>
            </a:r>
            <a:br/>
            <a:br/>
            <a:r>
              <a:t>-- See only active connections</a:t>
            </a:r>
            <a:br/>
            <a:r>
              <a:t>SELECT pid, usename, datname, application_name,</a:t>
            </a:r>
            <a:br/>
            <a:r>
              <a:t>       client_addr, state, query</a:t>
            </a:r>
            <a:br/>
            <a:r>
              <a:t>FROM pg_stat_activity</a:t>
            </a:r>
            <a:br/>
            <a:r>
              <a:t>WHERE state = 'active';</a:t>
            </a:r>
            <a:br/>
            <a:br/>
            <a:r>
              <a:t>-- See connections for specific database</a:t>
            </a:r>
            <a:br/>
            <a:r>
              <a:t>SELECT pid, usename, state, query</a:t>
            </a:r>
            <a:br/>
            <a:r>
              <a:t>FROM pg_stat_activity</a:t>
            </a:r>
            <a:br/>
            <a:r>
              <a:t>WHERE datname = 'your_database';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Q: How can you cancel active queries and terminate connections with a given PID?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A: Use pg_cancel_backend(pid) to cancel queries gracefully, or pg_terminate_backend(pid) to forcefully close connections.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Courier New"/>
              </a:defRPr>
            </a:pPr>
            <a:r>
              <a:t>-- Find the PID</a:t>
            </a:r>
            <a:br/>
            <a:r>
              <a:t>SELECT pid, usename, datname, state, query</a:t>
            </a:r>
            <a:br/>
            <a:r>
              <a:t>FROM pg_stat_activity</a:t>
            </a:r>
            <a:br/>
            <a:r>
              <a:t>WHERE usename = 'problematic_user';</a:t>
            </a:r>
            <a:br/>
            <a:br/>
            <a:r>
              <a:t>-- Cancel running query (gentle)</a:t>
            </a:r>
            <a:br/>
            <a:r>
              <a:t>SELECT pg_cancel_backend(12345);</a:t>
            </a:r>
            <a:br/>
            <a:br/>
            <a:r>
              <a:t>-- Terminate connection (forceful)</a:t>
            </a:r>
            <a:br/>
            <a:r>
              <a:t>SELECT pg_terminate_backend(12345);</a:t>
            </a:r>
            <a:br/>
            <a:br/>
            <a:r>
              <a:t>-- Verify connection is gone</a:t>
            </a:r>
            <a:br/>
            <a:r>
              <a:t>SELECT pid FROM pg_stat_activity WHERE pid = 12345;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Q: How can you kill all connections belonging to a specific role?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A: Use a query with pg_terminate_backend() on all PIDs for that role. Always exclude your own PID!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Courier New"/>
              </a:defRPr>
            </a:pPr>
            <a:r>
              <a:t>-- Terminate all connections for 'dev_user'</a:t>
            </a:r>
            <a:br/>
            <a:r>
              <a:t>SELECT pg_terminate_backend(pid)</a:t>
            </a:r>
            <a:br/>
            <a:r>
              <a:t>FROM pg_stat_activity</a:t>
            </a:r>
            <a:br/>
            <a:r>
              <a:t>WHERE usename = 'dev_user'</a:t>
            </a:r>
            <a:br/>
            <a:r>
              <a:t>  AND pid &lt;&gt; pg_backend_pid();</a:t>
            </a:r>
            <a:br/>
            <a:br/>
            <a:r>
              <a:t>-- Terminate all connections to a database</a:t>
            </a:r>
            <a:br/>
            <a:r>
              <a:t>SELECT pg_terminate_backend(pid)</a:t>
            </a:r>
            <a:br/>
            <a:r>
              <a:t>FROM pg_stat_activity</a:t>
            </a:r>
            <a:br/>
            <a:r>
              <a:t>WHERE datname = 'sample_db'</a:t>
            </a:r>
            <a:br/>
            <a:r>
              <a:t>  AND pid &lt;&gt; pg_backend_pid();</a:t>
            </a:r>
            <a:br/>
            <a:br/>
            <a:r>
              <a:t>-- Verify</a:t>
            </a:r>
            <a:br/>
            <a:r>
              <a:t>SELECT pid, usename FROM pg_stat_activity</a:t>
            </a:r>
            <a:br/>
            <a:r>
              <a:t>WHERE usename = 'dev_user';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Users, Roles &amp; Permissions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Q: Create user 'dev_user' with password, valid until specific date, with read/write on 'employee_data'.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A: Use CREATE USER with VALID UNTIL clause, then GRANT SELECT, INSERT, UPDATE, DELETE.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Courier New"/>
              </a:defRPr>
            </a:pPr>
            <a:r>
              <a:t>-- Create user with expiration</a:t>
            </a:r>
            <a:br/>
            <a:r>
              <a:t>CREATE USER dev_user</a:t>
            </a:r>
            <a:br/>
            <a:r>
              <a:t>WITH PASSWORD 'SecurePass123!'</a:t>
            </a:r>
            <a:br/>
            <a:r>
              <a:t>VALID UNTIL '2025-12-31';</a:t>
            </a:r>
            <a:br/>
            <a:br/>
            <a:r>
              <a:t>-- Grant read permission</a:t>
            </a:r>
            <a:br/>
            <a:r>
              <a:t>GRANT SELECT ON employee_data TO dev_user;</a:t>
            </a:r>
            <a:br/>
            <a:br/>
            <a:r>
              <a:t>-- Grant write permissions</a:t>
            </a:r>
            <a:br/>
            <a:r>
              <a:t>GRANT INSERT, UPDATE, DELETE ON employee_data TO dev_user;</a:t>
            </a:r>
            <a:br/>
            <a:br/>
            <a:r>
              <a:t>-- Or grant all at once:</a:t>
            </a:r>
            <a:br/>
            <a:r>
              <a:t>GRANT SELECT, INSERT, UPDATE, DELETE</a:t>
            </a:r>
            <a:br/>
            <a:r>
              <a:t>ON employee_data TO dev_user;</a:t>
            </a:r>
            <a:br/>
            <a:br/>
            <a:r>
              <a:t>-- Verify</a:t>
            </a:r>
            <a:br/>
            <a:r>
              <a:t>SELECT usename, valuntil FROM pg_user</a:t>
            </a:r>
            <a:br/>
            <a:r>
              <a:t>WHERE usename = 'dev_user';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Q: Create role 'dev_team', assign 'dev_user' to it, grant access to all tables with inheritance.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A: Create role with INHERIT, grant privileges on ALL TABLES, use ALTER DEFAULT PRIVILEGES for future tables.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Courier New"/>
              </a:defRPr>
            </a:pPr>
            <a:r>
              <a:t>-- Create role with inheritance</a:t>
            </a:r>
            <a:br/>
            <a:r>
              <a:t>CREATE ROLE dev_team WITH INHERIT;</a:t>
            </a:r>
            <a:br/>
            <a:br/>
            <a:r>
              <a:t>-- Grant access to all current tables</a:t>
            </a:r>
            <a:br/>
            <a:r>
              <a:t>GRANT SELECT, INSERT, UPDATE, DELETE</a:t>
            </a:r>
            <a:br/>
            <a:r>
              <a:t>ON ALL TABLES IN SCHEMA public</a:t>
            </a:r>
            <a:br/>
            <a:r>
              <a:t>TO dev_team;</a:t>
            </a:r>
            <a:br/>
            <a:br/>
            <a:r>
              <a:t>-- Grant privileges on future tables</a:t>
            </a:r>
            <a:br/>
            <a:r>
              <a:t>ALTER DEFAULT PRIVILEGES IN SCHEMA public</a:t>
            </a:r>
            <a:br/>
            <a:r>
              <a:t>GRANT SELECT, INSERT, UPDATE, DELETE</a:t>
            </a:r>
            <a:br/>
            <a:r>
              <a:t>ON TABLES TO dev_team;</a:t>
            </a:r>
            <a:br/>
            <a:br/>
            <a:r>
              <a:t>-- Assign user to role</a:t>
            </a:r>
            <a:br/>
            <a:r>
              <a:t>GRANT dev_team TO dev_user;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Q: Add new developer to 'dev_team' role and test access to 'employee_data'.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A: Create new user with LOGIN, grant role membership, test with SET ROLE.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Courier New"/>
              </a:defRPr>
            </a:pPr>
            <a:r>
              <a:t>-- Create new developer</a:t>
            </a:r>
            <a:br/>
            <a:r>
              <a:t>CREATE USER new_developer</a:t>
            </a:r>
            <a:br/>
            <a:r>
              <a:t>WITH PASSWORD 'DevPass456!'</a:t>
            </a:r>
            <a:br/>
            <a:r>
              <a:t>LOGIN;</a:t>
            </a:r>
            <a:br/>
            <a:br/>
            <a:r>
              <a:t>-- Add to dev_team role</a:t>
            </a:r>
            <a:br/>
            <a:r>
              <a:t>GRANT dev_team TO new_developer;</a:t>
            </a:r>
            <a:br/>
            <a:br/>
            <a:r>
              <a:t>-- Test access</a:t>
            </a:r>
            <a:br/>
            <a:r>
              <a:t>SET ROLE new_developer;</a:t>
            </a:r>
            <a:br/>
            <a:r>
              <a:t>SELECT * FROM employee_data LIMIT 5;</a:t>
            </a:r>
            <a:br/>
            <a:br/>
            <a:r>
              <a:t>-- Test write access</a:t>
            </a:r>
            <a:br/>
            <a:r>
              <a:t>INSERT INTO employee_data (name, email)</a:t>
            </a:r>
            <a:br/>
            <a:r>
              <a:t>VALUES ('Test', 'test@example.com');</a:t>
            </a:r>
            <a:br/>
            <a:br/>
            <a:r>
              <a:t>-- Reset role</a:t>
            </a:r>
            <a:br/>
            <a:r>
              <a:t>RESET ROLE;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Section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Tables, Data Types &amp; Arrays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Q: Create database 'sample_db' with table 'sample_table' (id serial, name varchar(50), age numeric(4,2), description text).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A: Use CREATE DATABASE, then CREATE TABLE with appropriate data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Courier New"/>
              </a:defRPr>
            </a:pPr>
            <a:r>
              <a:t>-- Create database</a:t>
            </a:r>
            <a:br/>
            <a:r>
              <a:t>CREATE DATABASE sample_db;</a:t>
            </a:r>
            <a:br/>
            <a:br/>
            <a:r>
              <a:t>-- Connect to it</a:t>
            </a:r>
            <a:br/>
            <a:r>
              <a:t>\c sample_db</a:t>
            </a:r>
            <a:br/>
            <a:br/>
            <a:r>
              <a:t>-- Create table</a:t>
            </a:r>
            <a:br/>
            <a:r>
              <a:t>CREATE TABLE sample_table (</a:t>
            </a:r>
            <a:br/>
            <a:r>
              <a:t>    id SERIAL PRIMARY KEY,</a:t>
            </a:r>
            <a:br/>
            <a:r>
              <a:t>    name VARCHAR(50),</a:t>
            </a:r>
            <a:br/>
            <a:r>
              <a:t>    age NUMERIC(4, 2),</a:t>
            </a:r>
            <a:br/>
            <a:r>
              <a:t>    description TEXT</a:t>
            </a:r>
            <a:br/>
            <a:r>
              <a:t>);</a:t>
            </a:r>
            <a:br/>
            <a:br/>
            <a:r>
              <a:t>-- Verify structure</a:t>
            </a:r>
            <a:br/>
            <a:r>
              <a:t>\d sample_table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Q: Populate 'sample_table' with data from CSV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A: Use \copy command in psql (client-side) or COPY (server-side).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Courier New"/>
              </a:defRPr>
            </a:pPr>
            <a:r>
              <a:t>-- Using \copy (client-side, no superuser needed)</a:t>
            </a:r>
            <a:br/>
            <a:r>
              <a:t>\copy sample_table(name, age, description)</a:t>
            </a:r>
            <a:br/>
            <a:r>
              <a:t>FROM 'sample_data.csv' WITH CSV HEADER</a:t>
            </a:r>
            <a:br/>
            <a:br/>
            <a:r>
              <a:t>-- Using COPY (server-side, needs privileges)</a:t>
            </a:r>
            <a:br/>
            <a:r>
              <a:t>COPY sample_table(name, age, description)</a:t>
            </a:r>
            <a:br/>
            <a:r>
              <a:t>FROM '/path/to/sample_data.csv'</a:t>
            </a:r>
            <a:br/>
            <a:r>
              <a:t>WITH (FORMAT csv, HEADER true);</a:t>
            </a:r>
            <a:br/>
            <a:br/>
            <a:r>
              <a:t>-- Manual INSERT</a:t>
            </a:r>
            <a:br/>
            <a:r>
              <a:t>INSERT INTO sample_table (name, age, description)</a:t>
            </a:r>
            <a:br/>
            <a:r>
              <a:t>VALUES</a:t>
            </a:r>
            <a:br/>
            <a:r>
              <a:t>('John Smith', 25, 'Description 1'),</a:t>
            </a:r>
            <a:br/>
            <a:r>
              <a:t>('Jane Doe', 33, 'Description 2');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Q: Pad 'name' to 20 chars (left) and trim whitespace from 'description'.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A: Use LPAD for padding and TRIM for removing whitespace.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Courier New"/>
              </a:defRPr>
            </a:pPr>
            <a:r>
              <a:t>-- Left-pad name to 20 characters</a:t>
            </a:r>
            <a:br/>
            <a:r>
              <a:t>SELECT id,</a:t>
            </a:r>
            <a:br/>
            <a:r>
              <a:t>       LPAD(name, 20, ' ') AS padded_name,</a:t>
            </a:r>
            <a:br/>
            <a:r>
              <a:t>       age, description</a:t>
            </a:r>
            <a:br/>
            <a:r>
              <a:t>FROM sample_table;</a:t>
            </a:r>
            <a:br/>
            <a:br/>
            <a:r>
              <a:t>-- Trim whitespace from description</a:t>
            </a:r>
            <a:br/>
            <a:r>
              <a:t>SELECT id, name, age,</a:t>
            </a:r>
            <a:br/>
            <a:r>
              <a:t>       TRIM(description) AS trimmed,</a:t>
            </a:r>
            <a:br/>
            <a:r>
              <a:t>       LTRIM(description) AS left_trim,</a:t>
            </a:r>
            <a:br/>
            <a:r>
              <a:t>       RTRIM(description) AS right_trim</a:t>
            </a:r>
            <a:br/>
            <a:r>
              <a:t>FROM sample_table;</a:t>
            </a:r>
            <a:br/>
            <a:br/>
            <a:r>
              <a:t>-- Combined</a:t>
            </a:r>
            <a:br/>
            <a:r>
              <a:t>SELECT LPAD(name, 20, ' ') AS name,</a:t>
            </a:r>
            <a:br/>
            <a:r>
              <a:t>       TRIM(description) AS desc</a:t>
            </a:r>
            <a:br/>
            <a:r>
              <a:t>FROM sample_table;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Q: Add 'birthdate' (date) and 'last_login' (timestamp with time zone) columns.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A: Use ALTER TABLE ADD COLUMN with appropriate data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Courier New"/>
              </a:defRPr>
            </a:pPr>
            <a:r>
              <a:t>-- Add birthdate column</a:t>
            </a:r>
            <a:br/>
            <a:r>
              <a:t>ALTER TABLE sample_table</a:t>
            </a:r>
            <a:br/>
            <a:r>
              <a:t>ADD COLUMN birthdate DATE;</a:t>
            </a:r>
            <a:br/>
            <a:br/>
            <a:r>
              <a:t>-- Add last_login column</a:t>
            </a:r>
            <a:br/>
            <a:r>
              <a:t>ALTER TABLE sample_table</a:t>
            </a:r>
            <a:br/>
            <a:r>
              <a:t>ADD COLUMN last_login TIMESTAMP WITH TIME ZONE;</a:t>
            </a:r>
            <a:br/>
            <a:br/>
            <a:r>
              <a:t>-- Populate with sample data</a:t>
            </a:r>
            <a:br/>
            <a:r>
              <a:t>UPDATE sample_table</a:t>
            </a:r>
            <a:br/>
            <a:r>
              <a:t>SET birthdate = '2000-01-15',</a:t>
            </a:r>
            <a:br/>
            <a:r>
              <a:t>    last_login = CURRENT_TIMESTAMP</a:t>
            </a:r>
            <a:br/>
            <a:r>
              <a:t>WHERE id = 1;</a:t>
            </a:r>
            <a:br/>
            <a:br/>
            <a:r>
              <a:t>-- View data</a:t>
            </a:r>
            <a:br/>
            <a:r>
              <a:t>SELECT id, name, birthdate, last_login</a:t>
            </a:r>
            <a:br/>
            <a:r>
              <a:t>FROM sample_table;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Q: Create sequence 'sample_sequence' starting at 100, incrementing by 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A: Use CREATE SEQUENCE with START WITH and INCREMENT BY clauses.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Courier New"/>
              </a:defRPr>
            </a:pPr>
            <a:r>
              <a:t>-- Create sequence</a:t>
            </a:r>
            <a:br/>
            <a:r>
              <a:t>CREATE SEQUENCE sample_sequence</a:t>
            </a:r>
            <a:br/>
            <a:r>
              <a:t>    START WITH 100</a:t>
            </a:r>
            <a:br/>
            <a:r>
              <a:t>    INCREMENT BY 10;</a:t>
            </a:r>
            <a:br/>
            <a:br/>
            <a:r>
              <a:t>-- Get next value</a:t>
            </a:r>
            <a:br/>
            <a:r>
              <a:t>SELECT nextval('sample_sequence');  -- Returns 100</a:t>
            </a:r>
            <a:br/>
            <a:r>
              <a:t>SELECT nextval('sample_sequence');  -- Returns 110</a:t>
            </a:r>
            <a:br/>
            <a:br/>
            <a:r>
              <a:t>-- Get current value (no increment)</a:t>
            </a:r>
            <a:br/>
            <a:r>
              <a:t>SELECT currval('sample_sequence');  -- Returns 110</a:t>
            </a:r>
            <a:br/>
            <a:br/>
            <a:r>
              <a:t>-- Set to specific value</a:t>
            </a:r>
            <a:br/>
            <a:r>
              <a:t>SELECT setval('sample_sequence', 500);</a:t>
            </a:r>
            <a:br/>
            <a:br/>
            <a:r>
              <a:t>-- Use in table</a:t>
            </a:r>
            <a:br/>
            <a:r>
              <a:t>CREATE TABLE orders (</a:t>
            </a:r>
            <a:br/>
            <a:r>
              <a:t>    id INTEGER DEFAULT nextval('sample_sequence'),</a:t>
            </a:r>
            <a:br/>
            <a:r>
              <a:t>    product VARCHAR(100)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Q: Add 'interests' array column and populate with integers.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A: Use INTEGER[] for array type, update with ARRAY[...] or '{...}'::INTEGER[].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Courier New"/>
              </a:defRPr>
            </a:pPr>
            <a:r>
              <a:t>-- Add array column</a:t>
            </a:r>
            <a:br/>
            <a:r>
              <a:t>ALTER TABLE sample_table</a:t>
            </a:r>
            <a:br/>
            <a:r>
              <a:t>ADD COLUMN interests INTEGER[];</a:t>
            </a:r>
            <a:br/>
            <a:br/>
            <a:r>
              <a:t>-- Update with arrays</a:t>
            </a:r>
            <a:br/>
            <a:r>
              <a:t>UPDATE sample_table</a:t>
            </a:r>
            <a:br/>
            <a:r>
              <a:t>SET interests = ARRAY[1,3,5]</a:t>
            </a:r>
            <a:br/>
            <a:r>
              <a:t>WHERE name = 'John Smith';</a:t>
            </a:r>
            <a:br/>
            <a:br/>
            <a:r>
              <a:t>UPDATE sample_table</a:t>
            </a:r>
            <a:br/>
            <a:r>
              <a:t>SET interests = '{2,4}'::INTEGER[]</a:t>
            </a:r>
            <a:br/>
            <a:r>
              <a:t>WHERE name = 'Jane Doe';</a:t>
            </a:r>
            <a:br/>
            <a:br/>
            <a:r>
              <a:t>UPDATE sample_table</a:t>
            </a:r>
            <a:br/>
            <a:r>
              <a:t>SET interests = '{1,2,3,4,5}'::INTEGER[]</a:t>
            </a:r>
            <a:br/>
            <a:r>
              <a:t>WHERE name = 'Bob Johnson';</a:t>
            </a:r>
            <a:br/>
            <a:br/>
            <a:r>
              <a:t>-- View data</a:t>
            </a:r>
            <a:br/>
            <a:r>
              <a:t>SELECT name, interests FROM sample_table;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Q: Select rows where 'interests' contains values 1 AND 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A: Use @&gt; operator (array contains).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Courier New"/>
              </a:defRPr>
            </a:pPr>
            <a:r>
              <a:t>-- Using @&gt; operator (best method)</a:t>
            </a:r>
            <a:br/>
            <a:r>
              <a:t>SELECT * FROM sample_table</a:t>
            </a:r>
            <a:br/>
            <a:r>
              <a:t>WHERE interests @&gt; ARRAY[1, 5];</a:t>
            </a:r>
            <a:br/>
            <a:r>
              <a:t>-- Returns: John Smith and Bob Johnson</a:t>
            </a:r>
            <a:br/>
            <a:br/>
            <a:r>
              <a:t>-- Alternative: Using ANY</a:t>
            </a:r>
            <a:br/>
            <a:r>
              <a:t>SELECT * FROM sample_table</a:t>
            </a:r>
            <a:br/>
            <a:r>
              <a:t>WHERE 1 = ANY(interests)</a:t>
            </a:r>
            <a:br/>
            <a:r>
              <a:t>  AND 5 = ANY(interests);</a:t>
            </a:r>
            <a:br/>
            <a:br/>
            <a:r>
              <a:t>-- Check overlap (&amp;&amp;)</a:t>
            </a:r>
            <a:br/>
            <a:r>
              <a:t>SELECT * FROM sample_table</a:t>
            </a:r>
            <a:br/>
            <a:r>
              <a:t>WHERE interests &amp;&amp; ARRAY[1, 5];</a:t>
            </a:r>
            <a:br/>
            <a:r>
              <a:t>-- Returns rows with either 1 OR 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Q: Select rows where 'interests' contains 2 but NOT 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A: Use @&gt; for contains and NOT for negation.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Courier New"/>
              </a:defRPr>
            </a:pPr>
            <a:r>
              <a:t>-- Has 2 but not 4</a:t>
            </a:r>
            <a:br/>
            <a:r>
              <a:t>SELECT * FROM sample_table</a:t>
            </a:r>
            <a:br/>
            <a:r>
              <a:t>WHERE interests @&gt; ARRAY[2]</a:t>
            </a:r>
            <a:br/>
            <a:r>
              <a:t>  AND NOT (interests @&gt; ARRAY[4]);</a:t>
            </a:r>
            <a:br/>
            <a:br/>
            <a:r>
              <a:t>-- Alternative method</a:t>
            </a:r>
            <a:br/>
            <a:r>
              <a:t>SELECT * FROM sample_table</a:t>
            </a:r>
            <a:br/>
            <a:r>
              <a:t>WHERE 2 = ANY(interests)</a:t>
            </a:r>
            <a:br/>
            <a:r>
              <a:t>  AND NOT (4 = ANY(interests));</a:t>
            </a:r>
            <a:br/>
            <a:br/>
            <a:r>
              <a:t>-- Using array_position</a:t>
            </a:r>
            <a:br/>
            <a:r>
              <a:t>SELECT * FROM sample_table</a:t>
            </a:r>
            <a:br/>
            <a:r>
              <a:t>WHERE array_position(interests, 2) IS NOT NULL</a:t>
            </a:r>
            <a:br/>
            <a:r>
              <a:t>  AND array_position(interests, 4) IS NULL;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Q: Update 'interests' for id=1 to add value 2 at the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A: Use array_append() or || operator.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latin typeface="Courier New"/>
              </a:defRPr>
            </a:pPr>
            <a:r>
              <a:t>-- Using array_append</a:t>
            </a:r>
            <a:br/>
            <a:r>
              <a:t>UPDATE sample_table</a:t>
            </a:r>
            <a:br/>
            <a:r>
              <a:t>SET interests = array_append(interests, 2)</a:t>
            </a:r>
            <a:br/>
            <a:r>
              <a:t>WHERE id = 1;</a:t>
            </a:r>
            <a:br/>
            <a:br/>
            <a:r>
              <a:t>-- Using || operator</a:t>
            </a:r>
            <a:br/>
            <a:r>
              <a:t>UPDATE sample_table</a:t>
            </a:r>
            <a:br/>
            <a:r>
              <a:t>SET interests = interests || 2</a:t>
            </a:r>
            <a:br/>
            <a:r>
              <a:t>WHERE id = 1;</a:t>
            </a:r>
            <a:br/>
            <a:br/>
            <a:r>
              <a:t>-- Add multiple values</a:t>
            </a:r>
            <a:br/>
            <a:r>
              <a:t>UPDATE sample_table</a:t>
            </a:r>
            <a:br/>
            <a:r>
              <a:t>SET interests = interests || ARRAY[6, 7, 8]</a:t>
            </a:r>
            <a:br/>
            <a:r>
              <a:t>WHERE id = 1;</a:t>
            </a:r>
            <a:br/>
            <a:br/>
            <a:r>
              <a:t>-- Remove value</a:t>
            </a:r>
            <a:br/>
            <a:r>
              <a:t>UPDATE sample_table</a:t>
            </a:r>
            <a:br/>
            <a:r>
              <a:t>SET interests = array_remove(interests, 3)</a:t>
            </a:r>
            <a:br/>
            <a:r>
              <a:t>WHERE id = 1;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Section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Backup &amp; Restore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Q4a: Backup database to plain SQL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latin typeface="Courier New"/>
              </a:defRPr>
            </a:pPr>
            <a:r>
              <a:t># Basic backup</a:t>
            </a:r>
            <a:br/>
            <a:r>
              <a:t>pg_dump mydb &gt; mydb_backup.sql</a:t>
            </a:r>
            <a:br/>
            <a:br/>
            <a:r>
              <a:t># With username</a:t>
            </a:r>
            <a:br/>
            <a:r>
              <a:t>pg_dump -U postgres mydb &gt; mydb_backup.sql</a:t>
            </a:r>
            <a:br/>
            <a:br/>
            <a:r>
              <a:t># With host and port</a:t>
            </a:r>
            <a:br/>
            <a:r>
              <a:t>pg_dump -h localhost -p 5432 -U postgres mydb &gt; mydb_backup.sql</a:t>
            </a:r>
            <a:br/>
            <a:br/>
            <a:r>
              <a:t># Include CREATE DATABASE statement</a:t>
            </a:r>
            <a:br/>
            <a:r>
              <a:t>pg_dump -U postgres -C mydb &gt; mydb_backup.sql</a:t>
            </a:r>
            <a:br/>
            <a:br/>
            <a:r>
              <a:t># With compression</a:t>
            </a:r>
            <a:br/>
            <a:r>
              <a:t>pg_dump -U postgres mydb | gzip &gt; mydb_backup.sql.gz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Q4b: Restore from plain SQL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latin typeface="Courier New"/>
              </a:defRPr>
            </a:pPr>
            <a:r>
              <a:t># Using psql</a:t>
            </a:r>
            <a:br/>
            <a:r>
              <a:t>psql -U postgres -d mydb &lt; mydb_backup.sql</a:t>
            </a:r>
            <a:br/>
            <a:br/>
            <a:r>
              <a:t># If database doesn't exist</a:t>
            </a:r>
            <a:br/>
            <a:r>
              <a:t>createdb -U postgres mydb</a:t>
            </a:r>
            <a:br/>
            <a:r>
              <a:t>psql -U postgres -d mydb &lt; mydb_backup.sql</a:t>
            </a:r>
            <a:br/>
            <a:br/>
            <a:r>
              <a:t># From compressed backup</a:t>
            </a:r>
            <a:br/>
            <a:r>
              <a:t>gunzip -c mydb_backup.sql.gz | psql -U postgres -d mydb</a:t>
            </a:r>
            <a:br/>
            <a:br/>
            <a:r>
              <a:t># Clean restore</a:t>
            </a:r>
            <a:br/>
            <a:r>
              <a:t>dropdb -U postgres mydb</a:t>
            </a:r>
            <a:br/>
            <a:r>
              <a:t>createdb -U postgres mydb</a:t>
            </a:r>
            <a:br/>
            <a:r>
              <a:t>psql -U postgres -d mydb &lt; mydb_backup.sql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Q4c: Restore from directory format 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latin typeface="Courier New"/>
              </a:defRPr>
            </a:pPr>
            <a:r>
              <a:t># Create directory format backup (reference)</a:t>
            </a:r>
            <a:br/>
            <a:r>
              <a:t>pg_dump -U postgres -F d -f mydb_backup_dir mydb</a:t>
            </a:r>
            <a:br/>
            <a:br/>
            <a:r>
              <a:t># Restore from directory</a:t>
            </a:r>
            <a:br/>
            <a:r>
              <a:t>pg_restore -U postgres -d mydb mydb_backup_dir</a:t>
            </a:r>
            <a:br/>
            <a:br/>
            <a:r>
              <a:t># Clean restore</a:t>
            </a:r>
            <a:br/>
            <a:r>
              <a:t>dropdb -U postgres mydb</a:t>
            </a:r>
            <a:br/>
            <a:r>
              <a:t>createdb -U postgres mydb</a:t>
            </a:r>
            <a:br/>
            <a:r>
              <a:t>pg_restore -U postgres -d mydb mydb_backup_dir</a:t>
            </a:r>
            <a:br/>
            <a:br/>
            <a:r>
              <a:t># With parallelism (faster)</a:t>
            </a:r>
            <a:br/>
            <a:r>
              <a:t>pg_restore -U postgres -d mydb -j 4 mydb_backup_dir</a:t>
            </a:r>
            <a:br/>
            <a:br/>
            <a:r>
              <a:t># Restore specific table only</a:t>
            </a:r>
            <a:br/>
            <a:r>
              <a:t>pg_restore -U postgres -d mydb -t sample_table mydb_backup_dir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Formats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Plain SQL (-F p): Human-readable, restore with psql</a:t>
            </a:r>
          </a:p>
          <a:p>
            <a:pPr>
              <a:defRPr sz="1400"/>
            </a:pPr>
            <a:r>
              <a:t>Custom (-F c): Compressed binary, restore with pg_restore</a:t>
            </a:r>
          </a:p>
          <a:p>
            <a:pPr>
              <a:defRPr sz="1400"/>
            </a:pPr>
            <a:r>
              <a:t>Directory (-F d): Parallel dump/restore, use pg_restore</a:t>
            </a:r>
          </a:p>
          <a:p>
            <a:pPr>
              <a:defRPr sz="1400"/>
            </a:pPr>
            <a:r>
              <a:t>Tar (-F t): Archived format, use pg_restore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Key flags:</a:t>
            </a:r>
          </a:p>
          <a:p>
            <a:pPr>
              <a:defRPr sz="1400"/>
            </a:pPr>
            <a:r>
              <a:t>-C: Include CREATE DATABASE</a:t>
            </a:r>
          </a:p>
          <a:p>
            <a:pPr>
              <a:defRPr sz="1400"/>
            </a:pPr>
            <a:r>
              <a:t>-j N: Use N parallel jobs (directory format only)</a:t>
            </a:r>
          </a:p>
          <a:p>
            <a:pPr>
              <a:defRPr sz="1400"/>
            </a:pPr>
            <a:r>
              <a:t>--schema-only: Backup structure without data</a:t>
            </a:r>
          </a:p>
          <a:p>
            <a:pPr>
              <a:defRPr sz="1400"/>
            </a:pPr>
            <a:r>
              <a:t>--data-only: Backup data without structure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Quick Reference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Essential Commands &amp; Operations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Connection Management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latin typeface="Courier New"/>
              </a:defRPr>
            </a:pPr>
            <a:r>
              <a:t>-- View all connections</a:t>
            </a:r>
            <a:br/>
            <a:r>
              <a:t>SELECT pid, usename, datname, state, query</a:t>
            </a:r>
            <a:br/>
            <a:r>
              <a:t>FROM pg_stat_activity;</a:t>
            </a:r>
            <a:br/>
            <a:br/>
            <a:r>
              <a:t>-- Cancel query (gentle)</a:t>
            </a:r>
            <a:br/>
            <a:r>
              <a:t>SELECT pg_cancel_backend(pid);</a:t>
            </a:r>
            <a:br/>
            <a:br/>
            <a:r>
              <a:t>-- Kill connection (forceful)</a:t>
            </a:r>
            <a:br/>
            <a:r>
              <a:t>SELECT pg_terminate_backend(pid);</a:t>
            </a:r>
            <a:br/>
            <a:br/>
            <a:r>
              <a:t>-- Kill all connections to database</a:t>
            </a:r>
            <a:br/>
            <a:r>
              <a:t>SELECT pg_terminate_backend(pid)</a:t>
            </a:r>
            <a:br/>
            <a:r>
              <a:t>FROM pg_stat_activity</a:t>
            </a:r>
            <a:br/>
            <a:r>
              <a:t>WHERE datname = 'target_db'</a:t>
            </a:r>
            <a:br/>
            <a:r>
              <a:t>  AND pid &lt;&gt; pg_backend_pid();</a:t>
            </a:r>
            <a:br/>
            <a:br/>
            <a:r>
              <a:t>-- Get your own PID</a:t>
            </a:r>
            <a:br/>
            <a:r>
              <a:t>SELECT pg_backend_pid();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User &amp; Permission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latin typeface="Courier New"/>
              </a:defRPr>
            </a:pPr>
            <a:r>
              <a:t>-- Create user with expiration</a:t>
            </a:r>
            <a:br/>
            <a:r>
              <a:t>CREATE USER username WITH PASSWORD 'pass'</a:t>
            </a:r>
            <a:br/>
            <a:r>
              <a:t>VALID UNTIL '2025-12-31';</a:t>
            </a:r>
            <a:br/>
            <a:br/>
            <a:r>
              <a:t>-- Create role</a:t>
            </a:r>
            <a:br/>
            <a:r>
              <a:t>CREATE ROLE rolename WITH INHERIT;</a:t>
            </a:r>
            <a:br/>
            <a:br/>
            <a:r>
              <a:t>-- Grant privileges</a:t>
            </a:r>
            <a:br/>
            <a:r>
              <a:t>GRANT SELECT, INSERT, UPDATE, DELETE</a:t>
            </a:r>
            <a:br/>
            <a:r>
              <a:t>ON tablename TO username;</a:t>
            </a:r>
            <a:br/>
            <a:br/>
            <a:r>
              <a:t>-- Grant on all tables</a:t>
            </a:r>
            <a:br/>
            <a:r>
              <a:t>GRANT ALL ON ALL TABLES IN SCHEMA public TO role;</a:t>
            </a:r>
            <a:br/>
            <a:br/>
            <a:r>
              <a:t>-- Future tables</a:t>
            </a:r>
            <a:br/>
            <a:r>
              <a:t>ALTER DEFAULT PRIVILEGES IN SCHEMA public</a:t>
            </a:r>
            <a:br/>
            <a:r>
              <a:t>GRANT ALL ON TABLES TO role;</a:t>
            </a:r>
            <a:br/>
            <a:br/>
            <a:r>
              <a:t>-- Add user to role</a:t>
            </a:r>
            <a:br/>
            <a:r>
              <a:t>GRANT rolename TO username;</a:t>
            </a:r>
            <a:br/>
            <a:br/>
            <a:r>
              <a:t>-- Test as user</a:t>
            </a:r>
            <a:br/>
            <a:r>
              <a:t>SET ROLE username;</a:t>
            </a:r>
            <a:br/>
            <a:r>
              <a:t>RESET ROLE;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PostgreSQL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SERIAL - Auto-incrementing integer (1, 2, 3...)</a:t>
            </a:r>
          </a:p>
          <a:p>
            <a:pPr>
              <a:defRPr sz="1400"/>
            </a:pPr>
            <a:r>
              <a:t>INTEGER - Whole numbers (-2147483648 to 2147483647)</a:t>
            </a:r>
          </a:p>
          <a:p>
            <a:pPr>
              <a:defRPr sz="1400"/>
            </a:pPr>
            <a:r>
              <a:t>BIGINT - Large integers</a:t>
            </a:r>
          </a:p>
          <a:p>
            <a:pPr>
              <a:defRPr sz="1400"/>
            </a:pPr>
            <a:r>
              <a:t>NUMERIC(p,s) - Exact decimal (p=precision, s=scale)</a:t>
            </a:r>
          </a:p>
          <a:p>
            <a:pPr>
              <a:defRPr sz="1400"/>
            </a:pPr>
            <a:r>
              <a:t>VARCHAR(n) - Variable text, max n characters</a:t>
            </a:r>
          </a:p>
          <a:p>
            <a:pPr>
              <a:defRPr sz="1400"/>
            </a:pPr>
            <a:r>
              <a:t>TEXT - Unlimited text</a:t>
            </a:r>
          </a:p>
          <a:p>
            <a:pPr>
              <a:defRPr sz="1400"/>
            </a:pPr>
            <a:r>
              <a:t>DATE - Date only (no time)</a:t>
            </a:r>
          </a:p>
          <a:p>
            <a:pPr>
              <a:defRPr sz="1400"/>
            </a:pPr>
            <a:r>
              <a:t>TIMESTAMP WITH TIME ZONE - Date + time + timezone</a:t>
            </a:r>
          </a:p>
          <a:p>
            <a:pPr>
              <a:defRPr sz="1400"/>
            </a:pPr>
            <a:r>
              <a:t>BOOLEAN - true/false</a:t>
            </a:r>
          </a:p>
          <a:p>
            <a:pPr>
              <a:defRPr sz="1400"/>
            </a:pPr>
            <a:r>
              <a:t>INTEGER[] - Array of integers</a:t>
            </a:r>
          </a:p>
          <a:p>
            <a:pPr>
              <a:defRPr sz="1400"/>
            </a:pPr>
            <a:r>
              <a:t>TEXT[] - Array of text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Array Operations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latin typeface="Courier New"/>
              </a:defRPr>
            </a:pPr>
            <a:r>
              <a:t>-- Create array</a:t>
            </a:r>
            <a:br/>
            <a:r>
              <a:t>interests INTEGER[]</a:t>
            </a:r>
            <a:br/>
            <a:br/>
            <a:r>
              <a:t>-- Insert array</a:t>
            </a:r>
            <a:br/>
            <a:r>
              <a:t>INSERT INTO table (arr) VALUES (ARRAY[1,2,3]);</a:t>
            </a:r>
            <a:br/>
            <a:r>
              <a:t>INSERT INTO table (arr) VALUES ('{1,2,3}'::INTEGER[]);</a:t>
            </a:r>
            <a:br/>
            <a:br/>
            <a:r>
              <a:t>-- Append element</a:t>
            </a:r>
            <a:br/>
            <a:r>
              <a:t>UPDATE table SET arr = array_append(arr, 4);</a:t>
            </a:r>
            <a:br/>
            <a:r>
              <a:t>UPDATE table SET arr = arr || 4;</a:t>
            </a:r>
            <a:br/>
            <a:br/>
            <a:r>
              <a:t>-- Append array</a:t>
            </a:r>
            <a:br/>
            <a:r>
              <a:t>UPDATE table SET arr = arr || ARRAY[5,6,7];</a:t>
            </a:r>
            <a:br/>
            <a:br/>
            <a:r>
              <a:t>-- Check contains (has ALL of these)</a:t>
            </a:r>
            <a:br/>
            <a:r>
              <a:t>WHERE arr @&gt; ARRAY[1,5]</a:t>
            </a:r>
            <a:br/>
            <a:br/>
            <a:r>
              <a:t>-- Check overlap (has ANY of these)</a:t>
            </a:r>
            <a:br/>
            <a:r>
              <a:t>WHERE arr &amp;&amp; ARRAY[1,5]</a:t>
            </a:r>
            <a:br/>
            <a:br/>
            <a:r>
              <a:t>-- Access elements (1-indexed!)</a:t>
            </a:r>
            <a:br/>
            <a:r>
              <a:t>arr[1]  -- First element</a:t>
            </a:r>
            <a:br/>
            <a:r>
              <a:t>arr[2:4]  -- Slice</a:t>
            </a:r>
            <a:br/>
            <a:br/>
            <a:r>
              <a:t>-- Array functions</a:t>
            </a:r>
            <a:br/>
            <a:r>
              <a:t>array_length(arr, 1)  -- Count elements</a:t>
            </a:r>
            <a:br/>
            <a:r>
              <a:t>array_position(arr, 5)  -- Find position of 5</a:t>
            </a:r>
            <a:br/>
            <a:r>
              <a:t>array_remove(arr, 3)  -- Remove all 3's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String Functions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latin typeface="Courier New"/>
              </a:defRPr>
            </a:pPr>
            <a:r>
              <a:t>-- Padding</a:t>
            </a:r>
            <a:br/>
            <a:r>
              <a:t>LPAD(string, length, fill)  -- Pad left</a:t>
            </a:r>
            <a:br/>
            <a:r>
              <a:t>RPAD(string, length, fill)  -- Pad right</a:t>
            </a:r>
            <a:br/>
            <a:r>
              <a:t>LPAD('hi', 5, '*')  -- '***hi'</a:t>
            </a:r>
            <a:br/>
            <a:br/>
            <a:r>
              <a:t>-- Trimming</a:t>
            </a:r>
            <a:br/>
            <a:r>
              <a:t>TRIM(string)   -- Remove leading &amp; trailing spaces</a:t>
            </a:r>
            <a:br/>
            <a:r>
              <a:t>LTRIM(string)  -- Remove leading spaces</a:t>
            </a:r>
            <a:br/>
            <a:r>
              <a:t>RTRIM(string)  -- Remove trailing spaces</a:t>
            </a:r>
            <a:br/>
            <a:br/>
            <a:r>
              <a:t>-- Case conversion</a:t>
            </a:r>
            <a:br/>
            <a:r>
              <a:t>UPPER(string)  -- TO UPPERCASE</a:t>
            </a:r>
            <a:br/>
            <a:r>
              <a:t>LOWER(string)  -- to lowercase</a:t>
            </a:r>
            <a:br/>
            <a:br/>
            <a:r>
              <a:t>-- Substring</a:t>
            </a:r>
            <a:br/>
            <a:r>
              <a:t>SUBSTRING(string, start, length)</a:t>
            </a:r>
            <a:br/>
            <a:r>
              <a:t>SUBSTRING('hello', 2, 3)  -- 'ell'</a:t>
            </a:r>
            <a:br/>
            <a:br/>
            <a:r>
              <a:t>-- Length</a:t>
            </a:r>
            <a:br/>
            <a:r>
              <a:t>LENGTH(string)  -- Character count</a:t>
            </a:r>
            <a:br/>
            <a:br/>
            <a:r>
              <a:t>-- Concatenation</a:t>
            </a:r>
            <a:br/>
            <a:r>
              <a:t>string1 || string2  -- Combine strings</a:t>
            </a:r>
            <a:br/>
            <a:r>
              <a:t>CONCAT(str1, str2, str3)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Common Query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latin typeface="Courier New"/>
              </a:defRPr>
            </a:pPr>
            <a:r>
              <a:t>-- View table structure</a:t>
            </a:r>
            <a:br/>
            <a:r>
              <a:t>\d tablename</a:t>
            </a:r>
            <a:br/>
            <a:br/>
            <a:r>
              <a:t>-- List all tables</a:t>
            </a:r>
            <a:br/>
            <a:r>
              <a:t>\dt</a:t>
            </a:r>
            <a:br/>
            <a:br/>
            <a:r>
              <a:t>-- List all databases</a:t>
            </a:r>
            <a:br/>
            <a:r>
              <a:t>\l</a:t>
            </a:r>
            <a:br/>
            <a:br/>
            <a:r>
              <a:t>-- Connect to database</a:t>
            </a:r>
            <a:br/>
            <a:r>
              <a:t>\c database_name</a:t>
            </a:r>
            <a:br/>
            <a:br/>
            <a:r>
              <a:t>-- View current user</a:t>
            </a:r>
            <a:br/>
            <a:r>
              <a:t>SELECT current_user;</a:t>
            </a:r>
            <a:br/>
            <a:br/>
            <a:r>
              <a:t>-- View session user</a:t>
            </a:r>
            <a:br/>
            <a:r>
              <a:t>SELECT session_user;</a:t>
            </a:r>
            <a:br/>
            <a:br/>
            <a:r>
              <a:t>-- Get current date/time</a:t>
            </a:r>
            <a:br/>
            <a:r>
              <a:t>SELECT CURRENT_DATE;</a:t>
            </a:r>
            <a:br/>
            <a:r>
              <a:t>SELECT CURRENT_TIMESTAMP;</a:t>
            </a:r>
            <a:br/>
            <a:r>
              <a:t>SELECT NOW();</a:t>
            </a:r>
            <a:br/>
            <a:br/>
            <a:r>
              <a:t>-- Calculate age from birthdate</a:t>
            </a:r>
            <a:br/>
            <a:r>
              <a:t>SELECT AGE(birthdate) FROM table;</a:t>
            </a:r>
            <a:br/>
            <a:br/>
            <a:r>
              <a:t>-- Extract year/month/day</a:t>
            </a:r>
            <a:br/>
            <a:r>
              <a:t>SELECT EXTRACT(YEAR FROM date_column);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 Success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✓ Remember: Arrays are 1-indexed (not 0!)</a:t>
            </a:r>
          </a:p>
          <a:p>
            <a:pPr>
              <a:defRPr sz="1400"/>
            </a:pPr>
            <a:r>
              <a:t>✓ Always use TIMESTAMP WITH TIME ZONE</a:t>
            </a:r>
          </a:p>
          <a:p>
            <a:pPr>
              <a:defRPr sz="1400"/>
            </a:pPr>
            <a:r>
              <a:t>✓ Use @&gt; for 'contains all' array queries</a:t>
            </a:r>
          </a:p>
          <a:p>
            <a:pPr>
              <a:defRPr sz="1400"/>
            </a:pPr>
            <a:r>
              <a:t>✓ pg_stat_activity shows connections</a:t>
            </a:r>
          </a:p>
          <a:p>
            <a:pPr>
              <a:defRPr sz="1400"/>
            </a:pPr>
            <a:r>
              <a:t>✓ Never kill your own connection: pid &lt;&gt; pg_backend_pid()</a:t>
            </a:r>
          </a:p>
          <a:p>
            <a:pPr>
              <a:defRPr sz="1400"/>
            </a:pPr>
            <a:r>
              <a:t>✓ SERIAL auto-increments, don't insert values</a:t>
            </a:r>
          </a:p>
          <a:p>
            <a:pPr>
              <a:defRPr sz="1400"/>
            </a:pPr>
            <a:r>
              <a:t>✓ \copy (client-side) vs COPY (server-side)</a:t>
            </a:r>
          </a:p>
          <a:p>
            <a:pPr>
              <a:defRPr sz="1400"/>
            </a:pPr>
            <a:r>
              <a:t>✓ Plain SQL → psql, Binary formats → pg_restore</a:t>
            </a:r>
          </a:p>
          <a:p>
            <a:pPr>
              <a:defRPr sz="1400"/>
            </a:pPr>
            <a:r>
              <a:t>✓ INHERIT role = members get permissions automatically</a:t>
            </a:r>
          </a:p>
          <a:p>
            <a:pPr>
              <a:defRPr sz="1400"/>
            </a:pPr>
            <a:r>
              <a:t>✓ Test your queries before writing final answers!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