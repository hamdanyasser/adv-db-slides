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Slide 1: Connections &amp; Users/Roles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6217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90000"/>
              </a:lnSpc>
              <a:defRPr sz="700">
                <a:latin typeface="Courier New"/>
              </a:defRPr>
            </a:pPr>
            <a:r>
              <a:t>=== SECTION 1: DATABASE CONNECTIONS ===</a:t>
            </a:r>
            <a:br/>
            <a:r>
              <a:t>Q1a: List connections and PIDs?</a:t>
            </a:r>
            <a:br/>
            <a:r>
              <a:t>A: SELECT pid,usename,datname,state,query_start,query FROM pg_stat_activity;</a:t>
            </a:r>
            <a:br/>
            <a:r>
              <a:t>   SELECT pid,usename,datname FROM pg_stat_activity WHERE state='active';</a:t>
            </a:r>
            <a:br/>
            <a:r>
              <a:t>   SELECT pid,usename FROM pg_stat_activity WHERE datname='mydb';</a:t>
            </a:r>
            <a:br/>
            <a:br/>
            <a:r>
              <a:t>Q1b: Cancel/terminate connections?</a:t>
            </a:r>
            <a:br/>
            <a:r>
              <a:t>A: SELECT pg_cancel_backend(12345);  -- Cancel query (gentle, SIGINT)</a:t>
            </a:r>
            <a:br/>
            <a:r>
              <a:t>   SELECT pg_terminate_backend(12345);  -- Kill connection (force, SIGTERM)</a:t>
            </a:r>
            <a:br/>
            <a:r>
              <a:t>   SELECT pid FROM pg_stat_activity WHERE pid=12345;  -- Verify gone</a:t>
            </a:r>
            <a:br/>
            <a:br/>
            <a:r>
              <a:t>Q1c: Kill all connections for role?</a:t>
            </a:r>
            <a:br/>
            <a:r>
              <a:t>A: SELECT pg_terminate_backend(pid) FROM pg_stat_activity</a:t>
            </a:r>
            <a:br/>
            <a:r>
              <a:t>   WHERE usename='dev_user' AND pid&lt;&gt;pg_backend_pid();</a:t>
            </a:r>
            <a:br/>
            <a:r>
              <a:t>   SELECT pg_terminate_backend(pid) FROM pg_stat_activity</a:t>
            </a:r>
            <a:br/>
            <a:r>
              <a:t>   WHERE datname='sample_db' AND pid&lt;&gt;pg_backend_pid();</a:t>
            </a:r>
            <a:br/>
            <a:br/>
            <a:r>
              <a:t>=== SECTION 2: USERS, ROLES &amp; PERMISSIONS ===</a:t>
            </a:r>
            <a:br/>
            <a:r>
              <a:t>Q2a: Create user with expiration, grant read/write on employee_data?</a:t>
            </a:r>
            <a:br/>
            <a:r>
              <a:t>A: CREATE USER dev_user WITH PASSWORD 'SecurePass123!' VALID UNTIL '2025-12-31';</a:t>
            </a:r>
            <a:br/>
            <a:r>
              <a:t>   GRANT SELECT ON employee_data TO dev_user;</a:t>
            </a:r>
            <a:br/>
            <a:r>
              <a:t>   GRANT INSERT,UPDATE,DELETE ON employee_data TO dev_user;</a:t>
            </a:r>
            <a:br/>
            <a:r>
              <a:t>   -- OR: GRANT SELECT,INSERT,UPDATE,DELETE ON employee_data TO dev_user;</a:t>
            </a:r>
            <a:br/>
            <a:r>
              <a:t>   SELECT usename,valuntil FROM pg_user WHERE usename='dev_user';</a:t>
            </a:r>
            <a:br/>
            <a:br/>
            <a:r>
              <a:t>Q2b: Create role dev_team, assign dev_user, grant all tables with inheritance?</a:t>
            </a:r>
            <a:br/>
            <a:r>
              <a:t>A: CREATE ROLE dev_team WITH INHERIT;</a:t>
            </a:r>
            <a:br/>
            <a:r>
              <a:t>   GRANT SELECT,INSERT,UPDATE,DELETE ON ALL TABLES IN SCHEMA public TO dev_team;</a:t>
            </a:r>
            <a:br/>
            <a:r>
              <a:t>   ALTER DEFAULT PRIVILEGES IN SCHEMA public GRANT SELECT,INSERT,UPDATE,DELETE ON TABLES TO dev_team;</a:t>
            </a:r>
            <a:br/>
            <a:r>
              <a:t>   GRANT dev_team TO dev_user;</a:t>
            </a:r>
            <a:br/>
            <a:r>
              <a:t>   SELECT r.rolname,m.rolname FROM pg_roles r</a:t>
            </a:r>
            <a:br/>
            <a:r>
              <a:t>   JOIN pg_auth_members ON r.oid=pg_auth_members.roleid</a:t>
            </a:r>
            <a:br/>
            <a:r>
              <a:t>   JOIN pg_roles m ON m.oid=pg_auth_members.member WHERE r.rolname='dev_team';</a:t>
            </a:r>
            <a:br/>
            <a:br/>
            <a:r>
              <a:t>Q2c: Add new developer to dev_team and test access?</a:t>
            </a:r>
            <a:br/>
            <a:r>
              <a:t>A: CREATE USER new_developer WITH PASSWORD 'DevPass456!' LOGIN;</a:t>
            </a:r>
            <a:br/>
            <a:r>
              <a:t>   GRANT dev_team TO new_developer;</a:t>
            </a:r>
            <a:br/>
            <a:r>
              <a:t>   SET ROLE new_developer;</a:t>
            </a:r>
            <a:br/>
            <a:r>
              <a:t>   SELECT * FROM employee_data LIMIT 5;</a:t>
            </a:r>
            <a:br/>
            <a:r>
              <a:t>   INSERT INTO employee_data (name,email) VALUES ('Test','test@ex.com');</a:t>
            </a:r>
            <a:br/>
            <a:r>
              <a:t>   UPDATE employee_data SET department='DevOps' WHERE name='Test';</a:t>
            </a:r>
            <a:br/>
            <a:r>
              <a:t>   DELETE FROM employee_data WHERE name='Test';</a:t>
            </a:r>
            <a:br/>
            <a:r>
              <a:t>   RESET ROLE;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Slide 2: Tables, Data Types &amp;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6217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90000"/>
              </a:lnSpc>
              <a:defRPr sz="650">
                <a:latin typeface="Courier New"/>
              </a:defRPr>
            </a:pPr>
            <a:r>
              <a:t>=== SECTION 3: TABLES, DATA TYPES &amp; ARRAYS ===</a:t>
            </a:r>
            <a:br/>
            <a:r>
              <a:t>Q3a: Create sample_db with sample_table(id serial,name varchar(50),age numeric(4,2),description text)?</a:t>
            </a:r>
            <a:br/>
            <a:r>
              <a:t>A: CREATE DATABASE sample_db;</a:t>
            </a:r>
            <a:br/>
            <a:r>
              <a:t>   \c sample_db</a:t>
            </a:r>
            <a:br/>
            <a:r>
              <a:t>   CREATE TABLE sample_table(id SERIAL PRIMARY KEY,name VARCHAR(50),age NUMERIC(4,2),description TEXT);</a:t>
            </a:r>
            <a:br/>
            <a:r>
              <a:t>   \d sample_table</a:t>
            </a:r>
            <a:br/>
            <a:br/>
            <a:r>
              <a:t>Q3b: Load from CSV (John Smith 25, Jane Doe 33, Bob Johnson 45)?</a:t>
            </a:r>
            <a:br/>
            <a:r>
              <a:t>A: \copy sample_table(name,age,description) FROM 'sample_data.csv' WITH CSV HEADER</a:t>
            </a:r>
            <a:br/>
            <a:r>
              <a:t>   -- OR: COPY sample_table(name,age,description) FROM '/path/to/file.csv' WITH (FORMAT csv,HEADER true);</a:t>
            </a:r>
            <a:br/>
            <a:r>
              <a:t>   INSERT INTO sample_table(name,age,description) VALUES</a:t>
            </a:r>
            <a:br/>
            <a:r>
              <a:t>   ('John Smith',25,'Lorem ipsum'),('Jane Doe',33,'Nullam imperdiet'),('Bob Johnson',45,'Pellentesque');</a:t>
            </a:r>
            <a:br/>
            <a:br/>
            <a:r>
              <a:t>Q3c: Pad name to 20 chars (left)?</a:t>
            </a:r>
            <a:br/>
            <a:r>
              <a:t>A: SELECT id,LPAD(name,20,' ') AS padded_name,age,description FROM sample_table;</a:t>
            </a:r>
            <a:br/>
            <a:r>
              <a:t>   SELECT RPAD(name,20,' ') FROM sample_table;  -- Right pad</a:t>
            </a:r>
            <a:br/>
            <a:br/>
            <a:r>
              <a:t>Q3d: Trim whitespace from description?</a:t>
            </a:r>
            <a:br/>
            <a:r>
              <a:t>A: SELECT id,name,age,TRIM(description) AS trimmed,LTRIM(description),RTRIM(description) FROM sample_table;</a:t>
            </a:r>
            <a:br/>
            <a:br/>
            <a:r>
              <a:t>Q3e: Add birthdate DATE column?</a:t>
            </a:r>
            <a:br/>
            <a:r>
              <a:t>A: ALTER TABLE sample_table ADD COLUMN birthdate DATE;</a:t>
            </a:r>
            <a:br/>
            <a:br/>
            <a:r>
              <a:t>Q3f: Add last_login TIMESTAMP WITH TIME ZONE column?</a:t>
            </a:r>
            <a:br/>
            <a:r>
              <a:t>A: ALTER TABLE sample_table ADD COLUMN last_login TIMESTAMP WITH TIME ZONE;</a:t>
            </a:r>
            <a:br/>
            <a:r>
              <a:t>   UPDATE sample_table SET birthdate='2000-01-15',last_login=CURRENT_TIMESTAMP WHERE id=1;</a:t>
            </a:r>
            <a:br/>
            <a:br/>
            <a:r>
              <a:t>Q3g: Create sequence starting 100, increment 10?</a:t>
            </a:r>
            <a:br/>
            <a:r>
              <a:t>A: CREATE SEQUENCE sample_sequence START WITH 100 INCREMENT BY 10;</a:t>
            </a:r>
            <a:br/>
            <a:r>
              <a:t>   SELECT nextval('sample_sequence');  -- Returns 100,110,120...</a:t>
            </a:r>
            <a:br/>
            <a:r>
              <a:t>   SELECT currval('sample_sequence');  -- Get current (no increment)</a:t>
            </a:r>
            <a:br/>
            <a:r>
              <a:t>   SELECT setval('sample_sequence',500);  -- Set to 500</a:t>
            </a:r>
            <a:br/>
            <a:br/>
            <a:r>
              <a:t>Q3h: Add interests INTEGER[] column?</a:t>
            </a:r>
            <a:br/>
            <a:r>
              <a:t>A: ALTER TABLE sample_table ADD COLUMN interests INTEGER[];</a:t>
            </a:r>
            <a:br/>
            <a:br/>
            <a:r>
              <a:t>Q3i: Update interests: John{1,3,5}, Jane{2,4}, Bob{1,2,3,4,5}?</a:t>
            </a:r>
            <a:br/>
            <a:r>
              <a:t>A: UPDATE sample_table SET interests=ARRAY[1,3,5] WHERE name='John Smith';</a:t>
            </a:r>
            <a:br/>
            <a:r>
              <a:t>   UPDATE sample_table SET interests='{2,4}'::INTEGER[] WHERE name='Jane Doe';</a:t>
            </a:r>
            <a:br/>
            <a:r>
              <a:t>   UPDATE sample_table SET interests='{1,2,3,4,5}'::INTEGER[] WHERE name='Bob Johnson';</a:t>
            </a:r>
            <a:br/>
            <a:br/>
            <a:r>
              <a:t>Q3j: Select rows with interests containing 1 AND 5?</a:t>
            </a:r>
            <a:br/>
            <a:r>
              <a:t>A: SELECT * FROM sample_table WHERE interests @&gt; ARRAY[1,5];  -- Best: @&gt; = contains</a:t>
            </a:r>
            <a:br/>
            <a:r>
              <a:t>   SELECT * FROM sample_table WHERE 1=ANY(interests) AND 5=ANY(interests);</a:t>
            </a:r>
            <a:br/>
            <a:br/>
            <a:r>
              <a:t>Q3k: Select rows with 2 but NOT 4?</a:t>
            </a:r>
            <a:br/>
            <a:r>
              <a:t>A: SELECT * FROM sample_table WHERE interests @&gt; ARRAY[2] AND NOT(interests @&gt; ARRAY[4]);</a:t>
            </a:r>
            <a:br/>
            <a:r>
              <a:t>   SELECT * FROM sample_table WHERE 2=ANY(interests) AND NOT(4=ANY(interests));</a:t>
            </a:r>
            <a:br/>
            <a:br/>
            <a:r>
              <a:t>Q3l: Add 2 to end of interests for id=1?</a:t>
            </a:r>
            <a:br/>
            <a:r>
              <a:t>A: UPDATE sample_table SET interests=array_append(interests,2) WHERE id=1;</a:t>
            </a:r>
            <a:br/>
            <a:r>
              <a:t>   UPDATE sample_table SET interests=interests||2 WHERE id=1;</a:t>
            </a:r>
            <a:br/>
            <a:r>
              <a:t>   UPDATE sample_table SET interests=interests||ARRAY[6,7,8] WHERE id=1;  -- Add multiple</a:t>
            </a:r>
            <a:br/>
            <a:r>
              <a:t>   UPDATE sample_table SET interests=array_remove(interests,3) WHERE id=1;  -- Remove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Slide 3: Backup/Restore &amp;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6217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90000"/>
              </a:lnSpc>
              <a:defRPr sz="700">
                <a:latin typeface="Courier New"/>
              </a:defRPr>
            </a:pPr>
            <a:r>
              <a:t>=== SECTION 4: BACKUP &amp; RESTORE ===</a:t>
            </a:r>
            <a:br/>
            <a:r>
              <a:t>Q4a: Backup mydb to mydb_backup.sql?</a:t>
            </a:r>
            <a:br/>
            <a:r>
              <a:t>A: pg_dump mydb &gt; mydb_backup.sql</a:t>
            </a:r>
            <a:br/>
            <a:r>
              <a:t>   pg_dump -U postgres mydb &gt; mydb_backup.sql</a:t>
            </a:r>
            <a:br/>
            <a:r>
              <a:t>   pg_dump -h localhost -p 5432 -U postgres mydb &gt; mydb_backup.sql</a:t>
            </a:r>
            <a:br/>
            <a:r>
              <a:t>   pg_dump -U postgres -C mydb &gt; mydb_backup.sql  -- Include CREATE DATABASE</a:t>
            </a:r>
            <a:br/>
            <a:r>
              <a:t>   pg_dump -U postgres mydb | gzip &gt; mydb_backup.sql.gz  -- Compressed</a:t>
            </a:r>
            <a:br/>
            <a:br/>
            <a:r>
              <a:t>Q4b: Restore from mydb_backup.sql?</a:t>
            </a:r>
            <a:br/>
            <a:r>
              <a:t>A: psql -U postgres -d mydb &lt; mydb_backup.sql</a:t>
            </a:r>
            <a:br/>
            <a:r>
              <a:t>   createdb -U postgres mydb &amp;&amp; psql -U postgres -d mydb &lt; mydb_backup.sql</a:t>
            </a:r>
            <a:br/>
            <a:r>
              <a:t>   gunzip -c mydb_backup.sql.gz | psql -U postgres -d mydb</a:t>
            </a:r>
            <a:br/>
            <a:r>
              <a:t>   dropdb -U postgres mydb &amp;&amp; createdb -U postgres mydb &amp;&amp; psql -U postgres -d mydb &lt; mydb_backup.sql</a:t>
            </a:r>
            <a:br/>
            <a:br/>
            <a:r>
              <a:t>Q4c: Restore from mydb_backup_dir?</a:t>
            </a:r>
            <a:br/>
            <a:r>
              <a:t>A: pg_dump -U postgres -F d -f mydb_backup_dir mydb  -- Create dir backup first</a:t>
            </a:r>
            <a:br/>
            <a:r>
              <a:t>   pg_restore -U postgres -d mydb mydb_backup_dir</a:t>
            </a:r>
            <a:br/>
            <a:r>
              <a:t>   dropdb mydb &amp;&amp; createdb mydb &amp;&amp; pg_restore -U postgres -d mydb mydb_backup_dir</a:t>
            </a:r>
            <a:br/>
            <a:r>
              <a:t>   pg_restore -U postgres -d mydb -j 4 mydb_backup_dir  -- Parallel (4 jobs)</a:t>
            </a:r>
            <a:br/>
            <a:r>
              <a:t>   pg_restore -U postgres -d mydb -t sample_table mydb_backup_dir  -- Specific table</a:t>
            </a:r>
            <a:br/>
            <a:br/>
            <a:r>
              <a:t>BACKUP FORMATS: Plain SQL(-F p,default)→psql | Custom(-F c)→pg_restore | Dir(-F d)→pg_restore | Tar(-F t)→pg_restore</a:t>
            </a:r>
            <a:br/>
            <a:br/>
            <a:r>
              <a:t>=== QUICK REFERENCE ===</a:t>
            </a:r>
            <a:br/>
            <a:r>
              <a:t>DATA TYPES: SERIAL(auto-inc) INTEGER BIGINT NUMERIC(p,s) VARCHAR(n) TEXT DATE TIME</a:t>
            </a:r>
            <a:br/>
            <a:r>
              <a:t>TIMESTAMP(use WITH TIME ZONE!) BOOLEAN INTEGER[] TEXT[] JSONB</a:t>
            </a:r>
            <a:br/>
            <a:r>
              <a:t>ARRAY OPS: @&gt;(contains) &lt;@(contained by) &amp;&amp;(overlap) ||(concat) array_append(arr,val)</a:t>
            </a:r>
            <a:br/>
            <a:r>
              <a:t>array_remove(arr,val) array_length(arr,1) array_position(arr,val) arr[1](1-indexed!)</a:t>
            </a:r>
            <a:br/>
            <a:r>
              <a:t>STRING: LPAD(str,len,fill) RPAD TRIM LTRIM RTRIM UPPER LOWER SUBSTRING(str,start,len) LENGTH CONCAT</a:t>
            </a:r>
            <a:br/>
            <a:r>
              <a:t>COMMON: \d table \dt \l \c db SELECT current_user; SELECT CURRENT_DATE; SELECT NOW();</a:t>
            </a:r>
            <a:br/>
            <a:r>
              <a:t>SELECT AGE(birthdate); SELECT EXTRACT(YEAR FROM date); WHERE col BETWEEN x AND y;</a:t>
            </a:r>
            <a:br/>
            <a:r>
              <a:t>GRANT SELECT,INSERT,UPDATE,DELETE ON table TO user; REVOKE SELECT ON table FROM user;</a:t>
            </a:r>
            <a:br/>
            <a:r>
              <a:t>ALTER TABLE ADD COLUMN col TYPE; DROP COLUMN col; ALTER COLUMN col SET DEFAULT val;</a:t>
            </a:r>
            <a:br/>
            <a:r>
              <a:t>CREATE INDEX idx ON table(col); CREATE INDEX idx ON table USING GIN(col);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Slide 4: Assignment 2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6217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90000"/>
              </a:lnSpc>
              <a:defRPr sz="650">
                <a:latin typeface="Courier New"/>
              </a:defRPr>
            </a:pPr>
            <a:r>
              <a:t>=== ASSIGNMENT 2: DATA TYPES, ARRAYS, JSON ===</a:t>
            </a:r>
            <a:br/>
            <a:r>
              <a:t>--PART 1: SERIAL,VARCHAR,TEXT,TEMPORAL TYPES--</a:t>
            </a:r>
            <a:br/>
            <a:r>
              <a:t>CREATE TABLE library_books(book_id SERIAL PRIMARY KEY,title VARCHAR(100),author TEXT,</a:t>
            </a:r>
            <a:br/>
            <a:r>
              <a:t>published_date DATE,available_time TIME);</a:t>
            </a:r>
            <a:br/>
            <a:br/>
            <a:r>
              <a:t>INSERT INTO library_books(title,author,published_date,available_time) VALUES</a:t>
            </a:r>
            <a:br/>
            <a:r>
              <a:t>('The Setup','Dan Bilzerian','2020-11-14','09:00:00'),</a:t>
            </a:r>
            <a:br/>
            <a:r>
              <a:t>('1984','George Orwell','1949-06-08','10:30:00'),</a:t>
            </a:r>
            <a:br/>
            <a:r>
              <a:t>('To Kill a Mockingbird','Harper Lee','1960-07-11','11:00:00'),</a:t>
            </a:r>
            <a:br/>
            <a:r>
              <a:t>('The Great Gatsby','F. Scott Fitzgerald','1925-04-10','14:45:00'),</a:t>
            </a:r>
            <a:br/>
            <a:r>
              <a:t>('Pride and Prejudice','Jane Austen','1813-01-28','08:15:00');</a:t>
            </a:r>
            <a:br/>
            <a:br/>
            <a:r>
              <a:t>SELECT * FROM library_books WHERE published_date&gt;'1950-1-1';</a:t>
            </a:r>
            <a:br/>
            <a:r>
              <a:t>UPDATE library_books SET available_time='12:00:00' WHERE book_id=3;</a:t>
            </a:r>
            <a:br/>
            <a:r>
              <a:t>SELECT * FROM library_books;</a:t>
            </a:r>
            <a:br/>
            <a:br/>
            <a:r>
              <a:t>--PART 2: ARRAYS--</a:t>
            </a:r>
            <a:br/>
            <a:r>
              <a:t>CREATE TABLE students(student_id SERIAL PRIMARY KEY,full_name TEXT,skills TEXT[]);</a:t>
            </a:r>
            <a:br/>
            <a:br/>
            <a:r>
              <a:t>INSERT INTO students(full_name,skills) VALUES</a:t>
            </a:r>
            <a:br/>
            <a:r>
              <a:t>('Hussein El Saadi',ARRAY['Data Science','Database','Programming']),</a:t>
            </a:r>
            <a:br/>
            <a:r>
              <a:t>('Haidar Al Harake',ARRAY['Computing','Web Development']),</a:t>
            </a:r>
            <a:br/>
            <a:r>
              <a:t>('Ahmad Taher',ARRAY['Communication','Mobile Development']);</a:t>
            </a:r>
            <a:br/>
            <a:br/>
            <a:r>
              <a:t>SELECT * FROM students WHERE skills @&gt; ARRAY['SQL'];</a:t>
            </a:r>
            <a:br/>
            <a:r>
              <a:t>UPDATE students SET skills=array_append(skills,'Linear Algebra') WHERE student_id=1;</a:t>
            </a:r>
            <a:br/>
            <a:r>
              <a:t>UPDATE students SET skills=array_remove(skills,'Communication') WHERE full_name='Ahmad Taher';</a:t>
            </a:r>
            <a:br/>
            <a:r>
              <a:t>SELECT * FROM students;</a:t>
            </a:r>
            <a:br/>
            <a:br/>
            <a:r>
              <a:t>--PART 3: JSON &amp; JSONB--</a:t>
            </a:r>
            <a:br/>
            <a:r>
              <a:t>CREATE TABLE products(product_id SERIAL PRIMARY KEY,details JSONB);</a:t>
            </a:r>
            <a:br/>
            <a:br/>
            <a:r>
              <a:t>INSERT INTO products(details) VALUES</a:t>
            </a:r>
            <a:br/>
            <a:r>
              <a:t>('{"name":"Smartphone","price":699.99,"tags":["electronics","gadgets","mobile"]}'),</a:t>
            </a:r>
            <a:br/>
            <a:r>
              <a:t>('{"name":"Laptop","price":1299.50,"tags":["electronics","computers"]}'),</a:t>
            </a:r>
            <a:br/>
            <a:r>
              <a:t>('{"name":"Wireless Earbuds","price":199.99,"tags":["electronics","audio","gadgets"]}'),</a:t>
            </a:r>
            <a:br/>
            <a:r>
              <a:t>('{"name":"Apple Watch","price":549.99,"tags":["electronics","gadgets"]}');</a:t>
            </a:r>
            <a:br/>
            <a:br/>
            <a:r>
              <a:t>SELECT * FROM products WHERE details-&gt;'tags'?'electronics';</a:t>
            </a:r>
            <a:br/>
            <a:r>
              <a:t>UPDATE products SET details=details||'{"stock":50}'::jsonb WHERE product_id=2;</a:t>
            </a:r>
            <a:br/>
            <a:r>
              <a:t>UPDATE products SET details=details-'tags' WHERE product_id=2;</a:t>
            </a:r>
            <a:br/>
            <a:r>
              <a:t>SELECT * FROM products;</a:t>
            </a:r>
            <a:br/>
            <a:br/>
            <a:r>
              <a:t>--JSON OPERATORS: -&gt; (get JSON object) -&gt;&gt; (get text) ? (key exists) @&gt; (contains)</a:t>
            </a:r>
            <a:br/>
            <a:r>
              <a:t>|| (concatenate) - (remove key) #&gt; (get path) #&gt;&gt; (get path as 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Slide 5: Assignment 3 - Full Text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8595360" cy="62179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90000"/>
              </a:lnSpc>
              <a:defRPr sz="650">
                <a:latin typeface="Courier New"/>
              </a:defRPr>
            </a:pPr>
            <a:r>
              <a:t>=== ASSIGNMENT 3: FULL TEXT SEARCH ===</a:t>
            </a:r>
            <a:br/>
            <a:r>
              <a:t>CREATE TABLE library_books(book_id SERIAL PRIMARY KEY,title VARCHAR(200) NOT NULL,</a:t>
            </a:r>
            <a:br/>
            <a:r>
              <a:t>description TEXT NOT NULL,fulltext TSVECTOR);</a:t>
            </a:r>
            <a:br/>
            <a:br/>
            <a:r>
              <a:t>UPDATE library_books SET fulltext=</a:t>
            </a:r>
            <a:br/>
            <a:r>
              <a:t>setweight(to_tsvector(COALESCE(title,'')),'A')||</a:t>
            </a:r>
            <a:br/>
            <a:r>
              <a:t>setweight(to_tsvector(COALESCE(description,'')),'B');</a:t>
            </a:r>
            <a:br/>
            <a:br/>
            <a:r>
              <a:t>CREATE TRIGGER library_books_fulltextsearch_trigger</a:t>
            </a:r>
            <a:br/>
            <a:r>
              <a:t>BEFORE INSERT OR UPDATE OF title,description ON library_books</a:t>
            </a:r>
            <a:br/>
            <a:r>
              <a:t>FOR EACH ROW EXECUTE PROCEDURE tsvector_update_trigger</a:t>
            </a:r>
            <a:br/>
            <a:r>
              <a:t>(fulltext,'pg_catalog.english',title,description);</a:t>
            </a:r>
            <a:br/>
            <a:br/>
            <a:r>
              <a:t>CREATE INDEX ix_library_books_fts_gin ON library_books USING GIN(fulltext);</a:t>
            </a:r>
            <a:br/>
            <a:br/>
            <a:r>
              <a:t>INSERT INTO library_books(title,description) VALUES</a:t>
            </a:r>
            <a:br/>
            <a:r>
              <a:t>('Journey to the Center of the Earth','A science fiction adventure novel by Jules Verne about a daring expedition to the earths core.'),</a:t>
            </a:r>
            <a:br/>
            <a:r>
              <a:t>('The Hobbit','A fantasy novel by J.R.R. Tolkien about Bilbo Baggins quest to reclaim the Lonely Mountain.'),</a:t>
            </a:r>
            <a:br/>
            <a:r>
              <a:t>('1984','A classic dystopian science fiction novel by George Orwell exploring themes of surveillance and totalitarianism.'),</a:t>
            </a:r>
            <a:br/>
            <a:r>
              <a:t>('Moby Dick','A classic novel by Herman Melville about the obsessive quest of Captain Ahab to hunt the white whale.'),</a:t>
            </a:r>
            <a:br/>
            <a:r>
              <a:t>('Dune','A science fiction novel by Frank Herbert exploring political intrigue and survival on the desert planet Arrakis.'),</a:t>
            </a:r>
            <a:br/>
            <a:r>
              <a:t>('The Chronicles of Narnia','A fantasy series by C.S. Lewis set in the magical land of Narnia, featuring epic battles of good versus evil.'),</a:t>
            </a:r>
            <a:br/>
            <a:r>
              <a:t>('Frankenstein','A classic science fiction novel by Mary Shelley about a scientist who creates a sentient creature.'),</a:t>
            </a:r>
            <a:br/>
            <a:r>
              <a:t>('The Three Musketeers','A classic adventure novel by Alexandre Dumas following the exploits of a young man and three guardsmen.'),</a:t>
            </a:r>
            <a:br/>
            <a:r>
              <a:t>('Twenty Thousand Leagues Under the Sea','A science fiction novel by Jules Verne detailing the underwater adventures of Captain Nemo and the Nautilus.'),</a:t>
            </a:r>
            <a:br/>
            <a:r>
              <a:t>('Harry Potter and the Philosophers Stone','A fantasy novel by J.K. Rowling about a young wizards first year at Hogwarts School of Witchcraft and Wizardry.');</a:t>
            </a:r>
            <a:br/>
            <a:br/>
            <a:r>
              <a:t>SELECT * FROM library_books WHERE fulltext @@ to_tsquery('fiction &amp; adventure');</a:t>
            </a:r>
            <a:br/>
            <a:r>
              <a:t>SELECT * FROM library_books WHERE fulltext @@ to_tsquery('science | fantasy');</a:t>
            </a:r>
            <a:br/>
            <a:r>
              <a:t>SELECT * FROM library_books WHERE fulltext @@ to_tsquery('classic &lt;3&gt; novel');</a:t>
            </a:r>
            <a:br/>
            <a:br/>
            <a:r>
              <a:t>--FTS FUNCTIONS: to_tsvector(text)→tsvector | to_tsquery(query)→tsquery | @@(match operator)</a:t>
            </a:r>
            <a:br/>
            <a:r>
              <a:t>setweight(tsvector,weight) | ts_rank(tsvector,tsquery) | ts_headline(text,tsquery)</a:t>
            </a:r>
            <a:br/>
            <a:r>
              <a:t>--TSQUERY OPS: &amp; (AND) | (OR) ! (NOT) &lt;N&gt; (distance) 'word':* (prefix)</a:t>
            </a:r>
            <a:br/>
            <a:r>
              <a:t>--WEIGHTS: A(highest) B C D(lowest) for ranking relevance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